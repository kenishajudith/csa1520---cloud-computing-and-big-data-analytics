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96" r:id="rId1"/>
  </p:sldMasterIdLst>
  <p:notesMasterIdLst>
    <p:notesMasterId r:id="rId14"/>
  </p:notesMasterIdLst>
  <p:sldIdLst>
    <p:sldId id="319" r:id="rId2"/>
    <p:sldId id="444" r:id="rId3"/>
    <p:sldId id="443" r:id="rId4"/>
    <p:sldId id="316" r:id="rId5"/>
    <p:sldId id="420" r:id="rId6"/>
    <p:sldId id="422" r:id="rId7"/>
    <p:sldId id="445" r:id="rId8"/>
    <p:sldId id="421" r:id="rId9"/>
    <p:sldId id="423" r:id="rId10"/>
    <p:sldId id="446" r:id="rId11"/>
    <p:sldId id="427" r:id="rId12"/>
    <p:sldId id="428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F99"/>
    <a:srgbClr val="FFE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55" autoAdjust="0"/>
    <p:restoredTop sz="94291" autoAdjust="0"/>
  </p:normalViewPr>
  <p:slideViewPr>
    <p:cSldViewPr>
      <p:cViewPr varScale="1">
        <p:scale>
          <a:sx n="63" d="100"/>
          <a:sy n="63" d="100"/>
        </p:scale>
        <p:origin x="1268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8B2BDBFC-A737-4674-95A6-BD8FC3BBB88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57087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3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/>
            <a:fld id="{D9FA2010-55FA-4547-918F-B81D2B6C3183}" type="slidenum">
              <a:rPr lang="en-US" smtClean="0">
                <a:solidFill>
                  <a:srgbClr val="000000"/>
                </a:solidFill>
                <a:latin typeface="Calibri" pitchFamily="34" charset="0"/>
              </a:rPr>
              <a:pPr eaLnBrk="1" hangingPunct="1"/>
              <a:t>1</a:t>
            </a:fld>
            <a:endParaRPr lang="en-US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6227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D1301E2-06EF-4199-A0C2-61C79D07C605}" type="slidenum">
              <a:rPr lang="en-US" sz="1200">
                <a:solidFill>
                  <a:srgbClr val="000000"/>
                </a:solidFill>
                <a:latin typeface="Calibri" pitchFamily="34" charset="0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sz="1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2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63862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445B1B0D-FD3A-430C-B5E7-9A25F0634E5E}" type="slidenum">
              <a:rPr lang="en-US" sz="1200">
                <a:solidFill>
                  <a:srgbClr val="000000"/>
                </a:solidFill>
                <a:latin typeface="Calibri" pitchFamily="34" charset="0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sz="1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2475" cy="34226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2774" name="Text Box 4"/>
          <p:cNvSpPr txBox="1">
            <a:spLocks noChangeArrowheads="1"/>
          </p:cNvSpPr>
          <p:nvPr/>
        </p:nvSpPr>
        <p:spPr bwMode="auto">
          <a:xfrm>
            <a:off x="685800" y="4343400"/>
            <a:ext cx="5480050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73DF8-1B35-D161-829D-B5D6DE552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E5931D-96D5-335B-96A2-203B20075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FC5A7-2036-1B4A-4066-BFF3A33E7F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66599-84A2-F3DC-E232-5695562F08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231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FDD00-DCAF-AA87-9B69-BBF63B40D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47D253-FE6B-DC68-5CE4-C66BF82C1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28D06-E3A1-45F5-A0E4-513B2D9AE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EC372-FF39-0107-4314-C7A156D45D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845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8665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45511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BB88F-1362-B8F2-98B4-49057AA30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28A9F4-9915-1BF3-C5F1-B701BB7794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5F178-1B36-B6DB-C78F-5D1F62435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927A3-CEC5-5D25-D42F-BCF10042D2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05667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67395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83813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14A4B-0550-7E87-0EFF-98386E4F1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65C638-2836-26CF-BC32-269AAEC9A3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C3218-810B-74A4-683A-F5296CDFC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0E05D5-8C36-00E0-1949-6E5D838F47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22595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4327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27162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384E2-29B2-473B-9B15-FB4162EA3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D68E3-377A-4EAB-A8AF-AC22ADEAD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2E3E1-B583-4E22-BE6E-DB39F8DC1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F78D47-8FFD-4512-8D28-D7D30AA2420B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A822F-80C2-4CE2-8FD6-7812B2458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2E405-DC72-42EB-9829-2FE185B4D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4C9596-1561-4F47-B169-6589373C9CB0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E181AF60-5A91-4EB3-9801-1AB645A82A0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162800" y="152400"/>
            <a:ext cx="1981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2000" u="sng">
                <a:latin typeface="AvantGarde" pitchFamily="34" charset="0"/>
                <a:ea typeface="宋体" pitchFamily="2" charset="-122"/>
              </a:rPr>
              <a:t>Outline</a:t>
            </a:r>
          </a:p>
        </p:txBody>
      </p:sp>
      <p:sp>
        <p:nvSpPr>
          <p:cNvPr id="8" name="AutoShape 2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E8136274-00DC-4015-BD06-CB923B2CB4A5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7086600" y="76200"/>
            <a:ext cx="304800" cy="304800"/>
          </a:xfrm>
          <a:prstGeom prst="actionButtonBackPrevious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9" name="AutoShape 2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276CE5E1-8B14-4CB7-BB74-EE3BFC3E9341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7086600" y="457200"/>
            <a:ext cx="304800" cy="304800"/>
          </a:xfrm>
          <a:prstGeom prst="actionButtonBackPrevious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" name="Rectangle 25">
            <a:extLst>
              <a:ext uri="{FF2B5EF4-FFF2-40B4-BE49-F238E27FC236}">
                <a16:creationId xmlns:a16="http://schemas.microsoft.com/office/drawing/2014/main" id="{5AFFD8CA-10EA-457A-8509-BF108EEBF4B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05600" y="838200"/>
            <a:ext cx="24384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0"/>
              </a:spcBef>
              <a:defRPr/>
            </a:pPr>
            <a:endParaRPr lang="zh-CN" altLang="en-US" sz="1400" b="1">
              <a:solidFill>
                <a:schemeClr val="tx1"/>
              </a:solidFill>
              <a:latin typeface="AvantGarde" pitchFamily="34" charset="0"/>
              <a:ea typeface="宋体" pitchFamily="2" charset="-122"/>
            </a:endParaRPr>
          </a:p>
        </p:txBody>
      </p:sp>
      <p:sp>
        <p:nvSpPr>
          <p:cNvPr id="11" name="Text Box 30">
            <a:extLst>
              <a:ext uri="{FF2B5EF4-FFF2-40B4-BE49-F238E27FC236}">
                <a16:creationId xmlns:a16="http://schemas.microsoft.com/office/drawing/2014/main" id="{AD926431-C4E0-4676-B855-D73EE2A09F8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400800"/>
            <a:ext cx="66294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© Copyright 1992–2004 by Deitel &amp; Associates, Inc. and Pearson Education Inc. All Rights Reserved</a:t>
            </a:r>
            <a:r>
              <a:rPr lang="en-US" altLang="zh-CN">
                <a:solidFill>
                  <a:schemeClr val="tx1"/>
                </a:solidFill>
                <a:latin typeface="AvantGarde" pitchFamily="34" charset="0"/>
                <a:ea typeface="宋体" pitchFamily="2" charset="-122"/>
              </a:rPr>
              <a:t>.</a:t>
            </a:r>
            <a:endParaRPr lang="en-US" altLang="zh-CN">
              <a:solidFill>
                <a:schemeClr val="tx1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316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8DAA1-91C1-4C5F-BDAF-DB5E286AF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B7DB8-FB8B-4B9E-8D4D-92B066231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A8477-CC20-4B19-8C40-5C3108AA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B5869-6686-4410-86B5-DEDA700B1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7A075-549C-4AF2-A490-06220BB47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8538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F0302-840F-4D7C-A473-8F1FA231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EAA85-2EB0-46D1-8E1D-33041FE1A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DA50A-DEF0-4838-965D-2E76434C5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C2CB087-0400-4922-9F91-7DC9C4839E49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481AD-E714-4546-B61C-28522DCEE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24374-8573-4A69-8B2D-46884D6B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98A58D-B9CE-4CA6-847A-291E9451A79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1339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B73E2-6CF0-4817-A81C-455BCFE3B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C7447-B2F6-496B-9572-086101E6A9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AFD9FF-A74B-4C54-961B-A95AFEDA0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CA999-851E-45D0-B22E-65845B3C8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C68D67-6EB7-4DC7-9727-8391EC2B56EB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63D65-6214-4D89-9B12-A1303BB86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6AFBC-A822-4087-96EA-8D612442F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37AD23-FB29-4133-9724-124394767C7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836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74298-9AF2-422D-B1EE-A63202D1F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88915-ED0B-49F9-8A7E-97BC9A25C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DCCA7-A896-4ECA-8801-07EC748A3A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6CA394-0114-4A88-8527-45CD39E85A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3D45D6-DF9F-411C-8263-95475B58DE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5DC717-99B0-42A5-9016-36F5FE84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034FBC-27D4-4810-9F83-B836C1894235}" type="datetime1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3E3F6-1870-49CB-A56B-B66C9CC60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C8AFB7-E09C-42AD-ACDD-82742BE2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283AFB-95D9-4C50-9E69-CCF772E78D2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5271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93A4D-7883-4BA4-A2EB-658270814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810DCD-0278-4783-9E0B-E62B90207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852B12-B03F-401A-B09A-22FF8A471D26}" type="datetime1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BC42EA-D385-492C-BDEB-CE2972FEC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A570D7-30EE-450C-858E-17211BA92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07ACE5-6DCF-44B1-BCE5-AED4F1432B7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0673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E67E85-4812-46FA-B55A-8C0346CBD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DBACEB-86B6-4549-86D9-546E8B661F1D}" type="datetime1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8FB567-7683-4806-A86E-0F37B1E56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409E3-4A1F-4B6F-A6B3-369926225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F6C63-F5E9-4477-9611-220F3BE2B4B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597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6DCF0-48BD-4DDA-B92F-E29D6B922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4CF3D-354D-4A6E-AF1B-E13A3F4A2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FBFFEF-0518-4957-93D5-89857DDCB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7CA3D9-AA64-4F05-84FA-0B1ED13AD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43E961-2071-4164-A816-F9134ED2D6BA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CA81AD-DB12-49BE-A4B7-61A1EEFFF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C6E26-110D-432F-9EA4-F7542D48C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0F9606-3640-4612-B129-D14368C5360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9643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2DCB-3EA8-4C02-A5BB-2D8C09FA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6004F2-CF89-4A93-901F-8580E2416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2AF3AE-E0F2-4DBA-8DA2-1FFC94CDF0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3D77BD-42F8-4BBF-93D1-C1BD19FAE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0EB93D-55FD-41C9-8418-0659BC3F3680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D1D6FD-3EDE-4090-982B-7A76CCC53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639B87-141A-4F5C-AA21-79CB16928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C7D8D7-F45D-4981-8A87-AE77D5099B4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2346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7C0F5-CC60-4A58-B110-71E849CD3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67BBE7-791B-47E0-8342-5D74B6392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19286-9FBD-4324-B4CF-37E961729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339E02-518C-45D4-AFEA-20FF5E86475A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4643B-B0CA-4F1F-B7DF-0676622B2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3A957-2CC5-4C83-BC04-44A9E0CA7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47999E-7031-42ED-94DE-C845CFFA06BB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7826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0B0C1B-8D93-465F-BCFF-41798B385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9AA99D-FF1A-45BD-AAC1-C51920680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2DCF0-D048-4B37-9FD8-5FF8AE6C4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03D3B3-07F5-4EA3-B17D-BBF195AEF26D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2C259-4962-46D2-B0E4-9EA9A950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C994C-4A19-4C0F-9F87-C20387017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008B66-D13B-4331-A839-75D7D9B9D9C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12680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C28140-F895-4F06-BF88-42CCEA259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7FC8D-C02F-4F4C-A012-39ECF4179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6592A-D9CF-46D3-92CD-2CD6BB05C3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EE1A3FC-59CE-474D-9569-50AD22CC8E28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76B21-0471-40FC-AD3A-A998605359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E1B8B-8F02-4176-8EF5-DB3DCA2D70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B166E11-64E3-4F73-B04E-7F106BCFFF09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6767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SE-Computer Science and Engineering">
            <a:extLst>
              <a:ext uri="{FF2B5EF4-FFF2-40B4-BE49-F238E27FC236}">
                <a16:creationId xmlns:a16="http://schemas.microsoft.com/office/drawing/2014/main" id="{04655572-62AA-D50A-E101-7C3CEAC14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20040" y="1325880"/>
            <a:ext cx="850392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>
                <a:solidFill>
                  <a:srgbClr val="BE0000"/>
                </a:solidFill>
                <a:latin typeface="Times New Roman"/>
              </a:rPr>
              <a:t>TECHNICAL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65960"/>
            <a:ext cx="7955279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700" b="1">
                <a:solidFill>
                  <a:srgbClr val="4B7D32"/>
                </a:solidFill>
                <a:latin typeface="Times New Roman"/>
              </a:rPr>
              <a:t>Evolution of Cloud Service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06040"/>
            <a:ext cx="69494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500" b="1">
                <a:solidFill>
                  <a:srgbClr val="BE0000"/>
                </a:solidFill>
                <a:latin typeface="Times New Roman"/>
              </a:rPr>
              <a:t>Team No.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300" b="1">
                <a:solidFill>
                  <a:srgbClr val="143E78"/>
                </a:solidFill>
                <a:latin typeface="Times New Roman"/>
              </a:rPr>
              <a:t>CSA15 – Cloud Computing and Big Data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17720"/>
            <a:ext cx="35661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BE0000"/>
                </a:solidFill>
                <a:latin typeface="Times New Roman"/>
              </a:rPr>
              <a:t>Guided 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010912"/>
            <a:ext cx="35661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143E78"/>
                </a:solidFill>
                <a:latin typeface="Times New Roman"/>
              </a:rPr>
              <a:t>Dr. A. M. Arul Raj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440680"/>
            <a:ext cx="356616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143E78"/>
                </a:solidFill>
                <a:latin typeface="Times New Roman"/>
              </a:rPr>
              <a:t>Professor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617720"/>
            <a:ext cx="36576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BE0000"/>
                </a:solidFill>
                <a:latin typeface="Times New Roman"/>
              </a:rPr>
              <a:t>Students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5010912"/>
            <a:ext cx="365760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143E78"/>
                </a:solidFill>
                <a:latin typeface="Times New Roman"/>
              </a:rPr>
              <a:t>Kenisha Judith J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5376672"/>
            <a:ext cx="365760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43E78"/>
                </a:solidFill>
                <a:latin typeface="Times New Roman"/>
              </a:rPr>
              <a:t>Reg. No.: 192572071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5733288"/>
            <a:ext cx="365760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143E78"/>
                </a:solidFill>
                <a:latin typeface="Times New Roman"/>
              </a:rPr>
              <a:t>Tanushri J 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6053328"/>
            <a:ext cx="365760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43E78"/>
                </a:solidFill>
                <a:latin typeface="Times New Roman"/>
              </a:rPr>
              <a:t>Reg. No.: 192521180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6236208"/>
            <a:ext cx="32004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Times New Roman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294026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par>
              <p:cTn id="2" fill="hold" nodeType="interactiveSeq">
                <p:stCondLst>
                  <p:cond delay="0"/>
                </p:stCondLst>
                <p:childTnLst>
                  <p:par>
                    <p:cTn id="3" fill="hold"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/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BD647-A7AE-67FE-F5D8-F0B1D08B0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7E6A4071-3DA5-B69A-C498-684731D73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731520" y="1234440"/>
            <a:ext cx="768096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>
                <a:solidFill>
                  <a:srgbClr val="BE0000"/>
                </a:solidFill>
                <a:latin typeface="Times New Roman"/>
              </a:rPr>
              <a:t>Abstract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7680960" cy="34747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2000">
                <a:solidFill>
                  <a:srgbClr val="143E78"/>
                </a:solidFill>
                <a:latin typeface="Times New Roman"/>
              </a:defRPr>
            </a:pPr>
            <a:r>
              <a:t>• Cloud service delivery → increasing abstraction and managed services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2000">
                <a:solidFill>
                  <a:srgbClr val="143E78"/>
                </a:solidFill>
                <a:latin typeface="Times New Roman"/>
              </a:defRPr>
            </a:pPr>
            <a:r>
              <a:t>• IaaS → virtualized compute, storage, networking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2000">
                <a:solidFill>
                  <a:srgbClr val="143E78"/>
                </a:solidFill>
                <a:latin typeface="Times New Roman"/>
              </a:defRPr>
            </a:pPr>
            <a:r>
              <a:t>• PaaS → managed runtime, middleware, developer tools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2000">
                <a:solidFill>
                  <a:srgbClr val="143E78"/>
                </a:solidFill>
                <a:latin typeface="Times New Roman"/>
              </a:defRPr>
            </a:pPr>
            <a:r>
              <a:t>• SaaS → ready-to-use applications over the Internet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2000">
                <a:solidFill>
                  <a:srgbClr val="143E78"/>
                </a:solidFill>
                <a:latin typeface="Times New Roman"/>
              </a:defRPr>
            </a:pPr>
            <a:r>
              <a:t>• Focus → development and layered relationship of IaaS, PaaS, SaaS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6236208"/>
            <a:ext cx="32004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Times New Roman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11031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AA383-D455-43CB-3883-5C0CECB79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B6C61642-1D4B-1734-B97B-9D1655E2F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731520" y="1234440"/>
            <a:ext cx="768096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>
                <a:solidFill>
                  <a:srgbClr val="BE0000"/>
                </a:solidFill>
                <a:latin typeface="Times New Roman"/>
              </a:rPr>
              <a:t>Aim and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77724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300" b="1">
                <a:solidFill>
                  <a:srgbClr val="BE0000"/>
                </a:solidFill>
                <a:latin typeface="Times New Roman"/>
              </a:rPr>
              <a:t>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7315200" cy="914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2000">
                <a:solidFill>
                  <a:srgbClr val="143E78"/>
                </a:solidFill>
                <a:latin typeface="Times New Roman"/>
              </a:defRPr>
            </a:pPr>
            <a:r>
              <a:t>• Trace the development of cloud service models from infrastructure to application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46120"/>
            <a:ext cx="77724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300" b="1">
                <a:solidFill>
                  <a:srgbClr val="BE0000"/>
                </a:solidFill>
                <a:latin typeface="Times New Roman"/>
              </a:rPr>
              <a:t>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03320"/>
            <a:ext cx="7315200" cy="20116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43E78"/>
                </a:solidFill>
                <a:latin typeface="Times New Roman"/>
              </a:defRPr>
            </a:pPr>
            <a:r>
              <a:t>• Identify key characteristics of IaaS, PaaS and SaaS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43E78"/>
                </a:solidFill>
                <a:latin typeface="Times New Roman"/>
              </a:defRPr>
            </a:pPr>
            <a:r>
              <a:t>• Arrange the service models as a layered abstraction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43E78"/>
                </a:solidFill>
                <a:latin typeface="Times New Roman"/>
              </a:defRPr>
            </a:pPr>
            <a:r>
              <a:t>• Compare user control, provider management and typical uses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43E78"/>
                </a:solidFill>
                <a:latin typeface="Times New Roman"/>
              </a:defRPr>
            </a:pPr>
            <a:r>
              <a:t>• Relate the models to real-world cloud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6236208"/>
            <a:ext cx="32004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Times New Roman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16889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B047F31A-2633-AEA2-CF58-C78E2A508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731520" y="1234440"/>
            <a:ext cx="768096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>
                <a:solidFill>
                  <a:srgbClr val="BE0000"/>
                </a:solidFill>
                <a:latin typeface="Times New Roman"/>
              </a:rPr>
              <a:t>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7680960" cy="3566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43E78"/>
                </a:solidFill>
                <a:latin typeface="Times New Roman"/>
              </a:defRPr>
            </a:pPr>
            <a:r>
              <a:t>• Cloud computing → on-demand access to shared configurable resources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43E78"/>
                </a:solidFill>
                <a:latin typeface="Times New Roman"/>
              </a:defRPr>
            </a:pPr>
            <a:r>
              <a:t>• NIST → three service models: IaaS, PaaS, SaaS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43E78"/>
                </a:solidFill>
                <a:latin typeface="Times New Roman"/>
              </a:defRPr>
            </a:pPr>
            <a:r>
              <a:t>• IaaS → highest customer control among the three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43E78"/>
                </a:solidFill>
                <a:latin typeface="Times New Roman"/>
              </a:defRPr>
            </a:pPr>
            <a:r>
              <a:t>• PaaS → reduced infrastructure management for developers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43E78"/>
                </a:solidFill>
                <a:latin typeface="Times New Roman"/>
              </a:defRPr>
            </a:pPr>
            <a:r>
              <a:t>• SaaS → highest abstraction; provider manages application and infrastructure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43E78"/>
                </a:solidFill>
                <a:latin typeface="Times New Roman"/>
              </a:defRPr>
            </a:pPr>
            <a:r>
              <a:t>• Service models can be viewed as a layered progression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6236208"/>
            <a:ext cx="32004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6F13DE02-BBC8-728C-D681-DB3D5A760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731520" y="1234440"/>
            <a:ext cx="768096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>
                <a:solidFill>
                  <a:srgbClr val="BE0000"/>
                </a:solidFill>
                <a:latin typeface="Times New Roman"/>
              </a:rPr>
              <a:t>Core Technical Explanation – Problem 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7772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300" b="1">
                <a:solidFill>
                  <a:srgbClr val="BE0000"/>
                </a:solidFill>
                <a:latin typeface="Times New Roman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7498079" cy="3108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2000">
                <a:solidFill>
                  <a:srgbClr val="143E78"/>
                </a:solidFill>
                <a:latin typeface="Times New Roman"/>
              </a:defRPr>
            </a:pPr>
            <a:r>
              <a:t>• Different cloud offerings → different levels of control and responsibility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2000">
                <a:solidFill>
                  <a:srgbClr val="143E78"/>
                </a:solidFill>
                <a:latin typeface="Times New Roman"/>
              </a:defRPr>
            </a:pPr>
            <a:r>
              <a:t>• Lack of clear service-model progression → difficulty selecting the right model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2000">
                <a:solidFill>
                  <a:srgbClr val="143E78"/>
                </a:solidFill>
                <a:latin typeface="Times New Roman"/>
              </a:defRPr>
            </a:pPr>
            <a:r>
              <a:t>• Need to distinguish infrastructure, platform and application responsibilities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2000">
                <a:solidFill>
                  <a:srgbClr val="143E78"/>
                </a:solidFill>
                <a:latin typeface="Times New Roman"/>
              </a:defRPr>
            </a:pPr>
            <a:r>
              <a:t>• Literature basis → NIST defines IaaS, PaaS and SaaS as distinct service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486400"/>
            <a:ext cx="7315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4B7D32"/>
                </a:solidFill>
                <a:latin typeface="Times New Roman"/>
              </a:rPr>
              <a:t>Key question: What changes as cloud services move from IaaS → PaaS → SaaS?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6236208"/>
            <a:ext cx="32004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Times New Roman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32674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841B0539-C8EA-378C-F83B-4C3CCA563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31520" y="1234440"/>
            <a:ext cx="768096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>
                <a:solidFill>
                  <a:srgbClr val="BE0000"/>
                </a:solidFill>
                <a:latin typeface="Times New Roman"/>
              </a:rPr>
              <a:t>Existing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7680960" cy="3931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2000">
                <a:solidFill>
                  <a:srgbClr val="143E78"/>
                </a:solidFill>
                <a:latin typeface="Times New Roman"/>
              </a:defRPr>
            </a:pPr>
            <a:r>
              <a:t>• Traditional IT → organization manages hardware, OS, applications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2000">
                <a:solidFill>
                  <a:srgbClr val="143E78"/>
                </a:solidFill>
                <a:latin typeface="Times New Roman"/>
              </a:defRPr>
            </a:pPr>
            <a:r>
              <a:t>• IaaS → provider manages physical infrastructure + virtualization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2000">
                <a:solidFill>
                  <a:srgbClr val="143E78"/>
                </a:solidFill>
                <a:latin typeface="Times New Roman"/>
              </a:defRPr>
            </a:pPr>
            <a:r>
              <a:t>• PaaS → provider additionally manages runtime/platform components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2000">
                <a:solidFill>
                  <a:srgbClr val="143E78"/>
                </a:solidFill>
                <a:latin typeface="Times New Roman"/>
              </a:defRPr>
            </a:pPr>
            <a:r>
              <a:t>• SaaS → provider manages platform + application delivery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2000">
                <a:solidFill>
                  <a:srgbClr val="143E78"/>
                </a:solidFill>
                <a:latin typeface="Times New Roman"/>
              </a:defRPr>
            </a:pPr>
            <a:r>
              <a:t>• Higher abstraction → less infrastructure management for the consumer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40680"/>
            <a:ext cx="2240280" cy="502920"/>
          </a:xfrm>
          <a:prstGeom prst="roundRect">
            <a:avLst/>
          </a:prstGeom>
          <a:solidFill>
            <a:srgbClr val="E0ECFA"/>
          </a:solidFill>
          <a:ln>
            <a:solidFill>
              <a:srgbClr val="143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3E78"/>
                </a:solidFill>
                <a:latin typeface="Times New Roman"/>
              </a:defRPr>
            </a:pPr>
            <a:r>
              <a:t>IaaS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5440680"/>
            <a:ext cx="2240280" cy="502920"/>
          </a:xfrm>
          <a:prstGeom prst="roundRect">
            <a:avLst/>
          </a:prstGeom>
          <a:solidFill>
            <a:srgbClr val="E7F2E0"/>
          </a:solidFill>
          <a:ln>
            <a:solidFill>
              <a:srgbClr val="143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3E78"/>
                </a:solidFill>
                <a:latin typeface="Times New Roman"/>
              </a:defRPr>
            </a:pPr>
            <a:r>
              <a:t>PaaS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5440680"/>
            <a:ext cx="2240280" cy="502920"/>
          </a:xfrm>
          <a:prstGeom prst="roundRect">
            <a:avLst/>
          </a:prstGeom>
          <a:solidFill>
            <a:srgbClr val="FAE8E8"/>
          </a:solidFill>
          <a:ln>
            <a:solidFill>
              <a:srgbClr val="143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3E78"/>
                </a:solidFill>
                <a:latin typeface="Times New Roman"/>
              </a:defRPr>
            </a:pPr>
            <a:r>
              <a:t>SaaS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6236208"/>
            <a:ext cx="32004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Times New Roman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391777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87269-CE8A-8B51-4415-0C74C2FDC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FEAA2EC3-51B5-BC62-F4F7-A939B69E3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31520" y="1234440"/>
            <a:ext cx="768096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>
                <a:solidFill>
                  <a:srgbClr val="BE0000"/>
                </a:solidFill>
                <a:latin typeface="Times New Roman"/>
              </a:rPr>
              <a:t>Proposed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7863840" cy="2560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43E78"/>
                </a:solidFill>
                <a:latin typeface="Times New Roman"/>
              </a:defRPr>
            </a:pPr>
            <a:r>
              <a:t>• Timeline-based view of cloud service-model development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43E78"/>
                </a:solidFill>
                <a:latin typeface="Times New Roman"/>
              </a:defRPr>
            </a:pPr>
            <a:r>
              <a:t>• Stage 1 → Infrastructure abstraction (IaaS)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43E78"/>
                </a:solidFill>
                <a:latin typeface="Times New Roman"/>
              </a:defRPr>
            </a:pPr>
            <a:r>
              <a:t>• Stage 2 → Development-platform abstraction (PaaS)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43E78"/>
                </a:solidFill>
                <a:latin typeface="Times New Roman"/>
              </a:defRPr>
            </a:pPr>
            <a:r>
              <a:t>• Stage 3 → Complete application delivery (SaaS)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43E78"/>
                </a:solidFill>
                <a:latin typeface="Times New Roman"/>
              </a:defRPr>
            </a:pPr>
            <a:r>
              <a:t>• Comparison → control, responsibility, scalability, typical users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572000"/>
            <a:ext cx="1920240" cy="914400"/>
          </a:xfrm>
          <a:prstGeom prst="roundRect">
            <a:avLst/>
          </a:prstGeom>
          <a:solidFill>
            <a:srgbClr val="E0ECFA"/>
          </a:solidFill>
          <a:ln>
            <a:solidFill>
              <a:srgbClr val="143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143E78"/>
                </a:solidFill>
                <a:latin typeface="Times New Roman"/>
              </a:defRPr>
            </a:pPr>
            <a:r>
              <a:t>IaaS</a:t>
            </a:r>
          </a:p>
          <a:p>
            <a:pPr algn="ctr">
              <a:defRPr sz="1400">
                <a:solidFill>
                  <a:srgbClr val="5A5A5A"/>
                </a:solidFill>
                <a:latin typeface="Times New Roman"/>
              </a:defRPr>
            </a:pPr>
            <a:r>
              <a:t>Infrastructure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4572000"/>
            <a:ext cx="1920240" cy="914400"/>
          </a:xfrm>
          <a:prstGeom prst="roundRect">
            <a:avLst/>
          </a:prstGeom>
          <a:solidFill>
            <a:srgbClr val="E7F2E0"/>
          </a:solidFill>
          <a:ln>
            <a:solidFill>
              <a:srgbClr val="143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143E78"/>
                </a:solidFill>
                <a:latin typeface="Times New Roman"/>
              </a:defRPr>
            </a:pPr>
            <a:r>
              <a:t>PaaS</a:t>
            </a:r>
          </a:p>
          <a:p>
            <a:pPr algn="ctr">
              <a:defRPr sz="1400">
                <a:solidFill>
                  <a:srgbClr val="5A5A5A"/>
                </a:solidFill>
                <a:latin typeface="Times New Roman"/>
              </a:defRPr>
            </a:pPr>
            <a:r>
              <a:t>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4572000"/>
            <a:ext cx="1920240" cy="914400"/>
          </a:xfrm>
          <a:prstGeom prst="roundRect">
            <a:avLst/>
          </a:prstGeom>
          <a:solidFill>
            <a:srgbClr val="FAE8E8"/>
          </a:solidFill>
          <a:ln>
            <a:solidFill>
              <a:srgbClr val="143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143E78"/>
                </a:solidFill>
                <a:latin typeface="Times New Roman"/>
              </a:defRPr>
            </a:pPr>
            <a:r>
              <a:t>SaaS</a:t>
            </a:r>
          </a:p>
          <a:p>
            <a:pPr algn="ctr">
              <a:defRPr sz="1400">
                <a:solidFill>
                  <a:srgbClr val="5A5A5A"/>
                </a:solidFill>
                <a:latin typeface="Times New Roman"/>
              </a:defRPr>
            </a:pPr>
            <a:r>
              <a:t>Software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78608" y="5029200"/>
            <a:ext cx="365760" cy="0"/>
          </a:xfrm>
          <a:prstGeom prst="line">
            <a:avLst/>
          </a:prstGeom>
          <a:ln w="31750">
            <a:solidFill>
              <a:srgbClr val="B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864608" y="5029200"/>
            <a:ext cx="365760" cy="0"/>
          </a:xfrm>
          <a:prstGeom prst="line">
            <a:avLst/>
          </a:prstGeom>
          <a:ln w="31750">
            <a:solidFill>
              <a:srgbClr val="B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5669280"/>
            <a:ext cx="73152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00" b="0">
                <a:solidFill>
                  <a:srgbClr val="5A5A5A"/>
                </a:solidFill>
                <a:latin typeface="Times New Roman"/>
              </a:rPr>
              <a:t>Note: this is a layered abstraction/progression, not a strict invention-date sequence.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6236208"/>
            <a:ext cx="32004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Times New Roman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93844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7C5E1F9D-B9A3-D9EB-905C-0AEABF9CF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40929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731520" y="1234440"/>
            <a:ext cx="768096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>
                <a:solidFill>
                  <a:srgbClr val="BE0000"/>
                </a:solidFill>
                <a:latin typeface="Times New Roman"/>
              </a:rPr>
              <a:t>Overall System Architecture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7772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100" b="1">
                <a:solidFill>
                  <a:srgbClr val="BE0000"/>
                </a:solidFill>
                <a:latin typeface="Times New Roman"/>
              </a:rPr>
              <a:t>Cloud Service Model Stack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2240280"/>
            <a:ext cx="6629400" cy="594360"/>
          </a:xfrm>
          <a:prstGeom prst="roundRect">
            <a:avLst/>
          </a:prstGeom>
          <a:solidFill>
            <a:srgbClr val="FAE8E8"/>
          </a:solidFill>
          <a:ln>
            <a:solidFill>
              <a:srgbClr val="143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E78"/>
                </a:solidFill>
                <a:latin typeface="Times New Roman"/>
              </a:defRPr>
            </a:pPr>
            <a:r>
              <a:t>SaaS  –  Applications • End-user software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2971800"/>
            <a:ext cx="6629400" cy="594360"/>
          </a:xfrm>
          <a:prstGeom prst="roundRect">
            <a:avLst/>
          </a:prstGeom>
          <a:solidFill>
            <a:srgbClr val="E7F2E0"/>
          </a:solidFill>
          <a:ln>
            <a:solidFill>
              <a:srgbClr val="143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E78"/>
                </a:solidFill>
                <a:latin typeface="Times New Roman"/>
              </a:defRPr>
            </a:pPr>
            <a:r>
              <a:t>PaaS  –  Runtime • Middleware • Developer 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40" y="3703320"/>
            <a:ext cx="6629400" cy="594360"/>
          </a:xfrm>
          <a:prstGeom prst="roundRect">
            <a:avLst/>
          </a:prstGeom>
          <a:solidFill>
            <a:srgbClr val="E0ECFA"/>
          </a:solidFill>
          <a:ln>
            <a:solidFill>
              <a:srgbClr val="143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E78"/>
                </a:solidFill>
                <a:latin typeface="Times New Roman"/>
              </a:defRPr>
            </a:pPr>
            <a:r>
              <a:t>IaaS  –  VMs • Storage • Networks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4434840"/>
            <a:ext cx="6629400" cy="594360"/>
          </a:xfrm>
          <a:prstGeom prst="roundRect">
            <a:avLst/>
          </a:prstGeom>
          <a:solidFill>
            <a:srgbClr val="F0F0F0"/>
          </a:solidFill>
          <a:ln>
            <a:solidFill>
              <a:srgbClr val="143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E78"/>
                </a:solidFill>
                <a:latin typeface="Times New Roman"/>
              </a:defRPr>
            </a:pPr>
            <a:r>
              <a:t>Physical Resources  –  Servers • Storage • Network hardware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57800"/>
            <a:ext cx="7498079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700" b="1">
                <a:solidFill>
                  <a:srgbClr val="4B7D32"/>
                </a:solidFill>
                <a:latin typeface="Times New Roman"/>
              </a:rPr>
              <a:t>Consumer control ↓  |  Provider responsibility 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60720"/>
            <a:ext cx="7498079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Times New Roman"/>
              </a:rPr>
              <a:t>SaaS may be built on PaaS components; PaaS may be built on IaaS components.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6236208"/>
            <a:ext cx="32004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Times New Roman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360006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B11E6B4E-71DE-962E-DC93-5159412AB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31520" y="1234440"/>
            <a:ext cx="768096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>
                <a:solidFill>
                  <a:srgbClr val="BE0000"/>
                </a:solidFill>
                <a:latin typeface="Times New Roman"/>
              </a:rPr>
              <a:t>Proposed Methodology and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7955279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BE0000"/>
                </a:solidFill>
                <a:latin typeface="Times New Roman"/>
              </a:rPr>
              <a:t>Algorithm: Cloud Service Model Progression</a:t>
            </a:r>
          </a:p>
        </p:txBody>
      </p:sp>
      <p:sp>
        <p:nvSpPr>
          <p:cNvPr id="7" name="Oval 6"/>
          <p:cNvSpPr/>
          <p:nvPr/>
        </p:nvSpPr>
        <p:spPr>
          <a:xfrm>
            <a:off x="411480" y="2514600"/>
            <a:ext cx="566928" cy="566928"/>
          </a:xfrm>
          <a:prstGeom prst="ellipse">
            <a:avLst/>
          </a:prstGeom>
          <a:solidFill>
            <a:srgbClr val="143E78"/>
          </a:solidFill>
          <a:ln>
            <a:solidFill>
              <a:srgbClr val="143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3154680"/>
            <a:ext cx="1207008" cy="1143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143E78"/>
                </a:solidFill>
                <a:latin typeface="Times New Roman"/>
              </a:rPr>
              <a:t>Identify cloud capability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78408" y="2798064"/>
            <a:ext cx="1133856" cy="0"/>
          </a:xfrm>
          <a:prstGeom prst="line">
            <a:avLst/>
          </a:prstGeom>
          <a:ln w="25400">
            <a:solidFill>
              <a:srgbClr val="B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130552" y="2514600"/>
            <a:ext cx="566928" cy="566928"/>
          </a:xfrm>
          <a:prstGeom prst="ellipse">
            <a:avLst/>
          </a:prstGeom>
          <a:solidFill>
            <a:srgbClr val="143E78"/>
          </a:solidFill>
          <a:ln>
            <a:solidFill>
              <a:srgbClr val="143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3154680"/>
            <a:ext cx="1207008" cy="1143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143E78"/>
                </a:solidFill>
                <a:latin typeface="Times New Roman"/>
              </a:rPr>
              <a:t>Classify control &amp; responsibility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97480" y="2798064"/>
            <a:ext cx="1133856" cy="0"/>
          </a:xfrm>
          <a:prstGeom prst="line">
            <a:avLst/>
          </a:prstGeom>
          <a:ln w="25400">
            <a:solidFill>
              <a:srgbClr val="B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849624" y="2514600"/>
            <a:ext cx="566928" cy="566928"/>
          </a:xfrm>
          <a:prstGeom prst="ellipse">
            <a:avLst/>
          </a:prstGeom>
          <a:solidFill>
            <a:srgbClr val="143E78"/>
          </a:solidFill>
          <a:ln>
            <a:solidFill>
              <a:srgbClr val="143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9584" y="3154680"/>
            <a:ext cx="1207008" cy="1143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143E78"/>
                </a:solidFill>
                <a:latin typeface="Times New Roman"/>
              </a:rPr>
              <a:t>Map to IaaS / PaaS / SaaS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16552" y="2798064"/>
            <a:ext cx="1133856" cy="0"/>
          </a:xfrm>
          <a:prstGeom prst="line">
            <a:avLst/>
          </a:prstGeom>
          <a:ln w="25400">
            <a:solidFill>
              <a:srgbClr val="B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568696" y="2514600"/>
            <a:ext cx="566928" cy="566928"/>
          </a:xfrm>
          <a:prstGeom prst="ellipse">
            <a:avLst/>
          </a:prstGeom>
          <a:solidFill>
            <a:srgbClr val="143E78"/>
          </a:solidFill>
          <a:ln>
            <a:solidFill>
              <a:srgbClr val="143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8656" y="3154680"/>
            <a:ext cx="1207008" cy="1143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143E78"/>
                </a:solidFill>
                <a:latin typeface="Times New Roman"/>
              </a:rPr>
              <a:t>Arrange as abstraction layers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35624" y="2798064"/>
            <a:ext cx="1133856" cy="0"/>
          </a:xfrm>
          <a:prstGeom prst="line">
            <a:avLst/>
          </a:prstGeom>
          <a:ln w="25400">
            <a:solidFill>
              <a:srgbClr val="B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287768" y="2514600"/>
            <a:ext cx="566928" cy="566928"/>
          </a:xfrm>
          <a:prstGeom prst="ellipse">
            <a:avLst/>
          </a:prstGeom>
          <a:solidFill>
            <a:srgbClr val="143E78"/>
          </a:solidFill>
          <a:ln>
            <a:solidFill>
              <a:srgbClr val="143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3154680"/>
            <a:ext cx="1207008" cy="1143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143E78"/>
                </a:solidFill>
                <a:latin typeface="Times New Roman"/>
              </a:rPr>
              <a:t>Validate with real-world 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54880"/>
            <a:ext cx="758952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4B7D32"/>
                </a:solidFill>
                <a:latin typeface="Times New Roman"/>
              </a:rPr>
              <a:t>Output → clear service-model timeline + responsibility comparison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86400"/>
            <a:ext cx="731520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500">
                <a:solidFill>
                  <a:srgbClr val="143E78"/>
                </a:solidFill>
                <a:latin typeface="Times New Roman"/>
              </a:defRPr>
            </a:pPr>
            <a:r>
              <a:t>• IaaS: infrastructure control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500">
                <a:solidFill>
                  <a:srgbClr val="143E78"/>
                </a:solidFill>
                <a:latin typeface="Times New Roman"/>
              </a:defRPr>
            </a:pPr>
            <a:r>
              <a:t>• PaaS: development focus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500">
                <a:solidFill>
                  <a:srgbClr val="143E78"/>
                </a:solidFill>
                <a:latin typeface="Times New Roman"/>
              </a:defRPr>
            </a:pPr>
            <a:r>
              <a:t>• SaaS: application consumption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6236208"/>
            <a:ext cx="32004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Times New Roman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900125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DC007-5E4E-CA02-94A4-65E20D562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1B50FCD3-154E-CDBE-CA92-7C01C4335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31520" y="1234440"/>
            <a:ext cx="768096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>
                <a:solidFill>
                  <a:srgbClr val="BE0000"/>
                </a:solidFill>
                <a:latin typeface="Times New Roman"/>
              </a:rPr>
              <a:t>Real-World Use Case in Cloud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77724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100" b="1">
                <a:solidFill>
                  <a:srgbClr val="BE0000"/>
                </a:solidFill>
                <a:latin typeface="Times New Roman"/>
              </a:rPr>
              <a:t>Example: AWS Cloud Service Portfolio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514600"/>
            <a:ext cx="2331720" cy="2331720"/>
          </a:xfrm>
          <a:prstGeom prst="roundRect">
            <a:avLst/>
          </a:prstGeom>
          <a:solidFill>
            <a:srgbClr val="E0ECFA"/>
          </a:solidFill>
          <a:ln>
            <a:solidFill>
              <a:srgbClr val="143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43E78"/>
                </a:solidFill>
                <a:latin typeface="Times New Roman"/>
              </a:defRPr>
            </a:pPr>
            <a:r>
              <a:t>IaaS</a:t>
            </a:r>
          </a:p>
          <a:p>
            <a:pPr algn="ctr">
              <a:defRPr sz="1400">
                <a:solidFill>
                  <a:srgbClr val="5A5A5A"/>
                </a:solidFill>
                <a:latin typeface="Times New Roman"/>
              </a:defRPr>
            </a:pPr>
            <a:r>
              <a:t>Amazon EC2</a:t>
            </a:r>
          </a:p>
          <a:p>
            <a:pPr algn="ctr">
              <a:defRPr sz="1400">
                <a:solidFill>
                  <a:srgbClr val="5A5A5A"/>
                </a:solidFill>
                <a:latin typeface="Times New Roman"/>
              </a:defRPr>
            </a:pPr>
            <a:r>
              <a:t>Virtual machines</a:t>
            </a:r>
          </a:p>
          <a:p>
            <a:pPr algn="ctr">
              <a:defRPr sz="1400">
                <a:solidFill>
                  <a:srgbClr val="5A5A5A"/>
                </a:solidFill>
                <a:latin typeface="Times New Roman"/>
              </a:defRPr>
            </a:pPr>
            <a:r>
              <a:t>Storage &amp; networking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2514600"/>
            <a:ext cx="2331720" cy="2331720"/>
          </a:xfrm>
          <a:prstGeom prst="roundRect">
            <a:avLst/>
          </a:prstGeom>
          <a:solidFill>
            <a:srgbClr val="E7F2E0"/>
          </a:solidFill>
          <a:ln>
            <a:solidFill>
              <a:srgbClr val="143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43E78"/>
                </a:solidFill>
                <a:latin typeface="Times New Roman"/>
              </a:defRPr>
            </a:pPr>
            <a:r>
              <a:t>PaaS</a:t>
            </a:r>
          </a:p>
          <a:p>
            <a:pPr algn="ctr">
              <a:defRPr sz="1400">
                <a:solidFill>
                  <a:srgbClr val="5A5A5A"/>
                </a:solidFill>
                <a:latin typeface="Times New Roman"/>
              </a:defRPr>
            </a:pPr>
            <a:r>
              <a:t>AWS Elastic Beanstalk</a:t>
            </a:r>
          </a:p>
          <a:p>
            <a:pPr algn="ctr">
              <a:defRPr sz="1400">
                <a:solidFill>
                  <a:srgbClr val="5A5A5A"/>
                </a:solidFill>
                <a:latin typeface="Times New Roman"/>
              </a:defRPr>
            </a:pPr>
            <a:r>
              <a:t>Managed application deployment</a:t>
            </a:r>
          </a:p>
          <a:p>
            <a:pPr algn="ctr">
              <a:defRPr sz="1400">
                <a:solidFill>
                  <a:srgbClr val="5A5A5A"/>
                </a:solidFill>
                <a:latin typeface="Times New Roman"/>
              </a:defRPr>
            </a:pPr>
            <a:r>
              <a:t>Runtime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2514600"/>
            <a:ext cx="2331720" cy="2331720"/>
          </a:xfrm>
          <a:prstGeom prst="roundRect">
            <a:avLst/>
          </a:prstGeom>
          <a:solidFill>
            <a:srgbClr val="FAE8E8"/>
          </a:solidFill>
          <a:ln>
            <a:solidFill>
              <a:srgbClr val="143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43E78"/>
                </a:solidFill>
                <a:latin typeface="Times New Roman"/>
              </a:defRPr>
            </a:pPr>
            <a:r>
              <a:t>SaaS</a:t>
            </a:r>
          </a:p>
          <a:p>
            <a:pPr algn="ctr">
              <a:defRPr sz="1400">
                <a:solidFill>
                  <a:srgbClr val="5A5A5A"/>
                </a:solidFill>
                <a:latin typeface="Times New Roman"/>
              </a:defRPr>
            </a:pPr>
            <a:r>
              <a:t>Cloud-hosted applications</a:t>
            </a:r>
          </a:p>
          <a:p>
            <a:pPr algn="ctr">
              <a:defRPr sz="1400">
                <a:solidFill>
                  <a:srgbClr val="5A5A5A"/>
                </a:solidFill>
                <a:latin typeface="Times New Roman"/>
              </a:defRPr>
            </a:pPr>
            <a:r>
              <a:t>Ready-to-use services</a:t>
            </a:r>
          </a:p>
          <a:p>
            <a:pPr algn="ctr">
              <a:defRPr sz="1400">
                <a:solidFill>
                  <a:srgbClr val="5A5A5A"/>
                </a:solidFill>
                <a:latin typeface="Times New Roman"/>
              </a:defRPr>
            </a:pPr>
            <a:r>
              <a:t>Minimal infrastructure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66360"/>
            <a:ext cx="7498079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700" b="1">
                <a:solidFill>
                  <a:srgbClr val="4B7D32"/>
                </a:solidFill>
                <a:latin typeface="Times New Roman"/>
              </a:rPr>
              <a:t>Use-case insight → the same cloud provider can offer different abstraction levels for different users.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6236208"/>
            <a:ext cx="32004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Times New Roman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56740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E6ECBA5D-B29C-DAFD-42C9-911BFD401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31520" y="1234440"/>
            <a:ext cx="768096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>
                <a:solidFill>
                  <a:srgbClr val="BE0000"/>
                </a:solidFill>
                <a:latin typeface="Times New Roman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7680960" cy="3566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43E78"/>
                </a:solidFill>
                <a:latin typeface="Times New Roman"/>
              </a:defRPr>
            </a:pPr>
            <a:r>
              <a:t>• Problem → unclear differences in cloud service responsibilities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43E78"/>
                </a:solidFill>
                <a:latin typeface="Times New Roman"/>
              </a:defRPr>
            </a:pPr>
            <a:r>
              <a:t>• Solution → layered progression: IaaS → PaaS → SaaS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43E78"/>
                </a:solidFill>
                <a:latin typeface="Times New Roman"/>
              </a:defRPr>
            </a:pPr>
            <a:r>
              <a:t>• IaaS → infrastructure flexibility and higher consumer control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43E78"/>
                </a:solidFill>
                <a:latin typeface="Times New Roman"/>
              </a:defRPr>
            </a:pPr>
            <a:r>
              <a:t>• PaaS → faster application development with managed platform services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43E78"/>
                </a:solidFill>
                <a:latin typeface="Times New Roman"/>
              </a:defRPr>
            </a:pPr>
            <a:r>
              <a:t>• SaaS → ready-to-use applications with minimal infrastructure management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43E78"/>
                </a:solidFill>
                <a:latin typeface="Times New Roman"/>
              </a:defRPr>
            </a:pPr>
            <a:r>
              <a:t>• Impact → easier service selection based on control, responsibility and use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23560"/>
            <a:ext cx="73152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4B7D32"/>
                </a:solidFill>
                <a:latin typeface="Times New Roman"/>
              </a:rPr>
              <a:t>Cloud service models → increasing abstraction, convenience and provider management.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236208"/>
            <a:ext cx="32004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Times New Roman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945476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37C45DA2-5E82-C263-C424-8559C1B63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31520" y="1234440"/>
            <a:ext cx="768096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>
                <a:solidFill>
                  <a:srgbClr val="BE0000"/>
                </a:solidFill>
                <a:latin typeface="Times New Roman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8138160" cy="44805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250">
                <a:solidFill>
                  <a:srgbClr val="143E78"/>
                </a:solidFill>
                <a:latin typeface="Times New Roman"/>
              </a:defRPr>
            </a:pPr>
            <a:r>
              <a:t>• [1] P. Mell and T. Grance, “The NIST Definition of Cloud Computing,” NIST, Special Publication 800-145, Sep. 2011, doi: 10.6028/NIST.SP.800-145.</a:t>
            </a:r>
          </a:p>
          <a:p>
            <a:pPr>
              <a:spcAft>
                <a:spcPts val="400"/>
              </a:spcAft>
              <a:defRPr sz="1250">
                <a:solidFill>
                  <a:srgbClr val="143E78"/>
                </a:solidFill>
                <a:latin typeface="Times New Roman"/>
              </a:defRPr>
            </a:pPr>
            <a:r>
              <a:t>• [2] F. Liu, J. Tong, J. Mao, R. B. Bohn, J. V. Messina, M. Badger, and D. M. Leaf, “NIST Cloud Computing Reference Architecture,” NIST, Special Publication 500-292, Sep. 2011, doi: 10.6028/NIST.SP.500-292.</a:t>
            </a:r>
          </a:p>
          <a:p>
            <a:pPr>
              <a:spcAft>
                <a:spcPts val="400"/>
              </a:spcAft>
              <a:defRPr sz="1250">
                <a:solidFill>
                  <a:srgbClr val="143E78"/>
                </a:solidFill>
                <a:latin typeface="Times New Roman"/>
              </a:defRPr>
            </a:pPr>
            <a:r>
              <a:t>• [3] E. Simmon, “Evaluation of Cloud Computing Services Based on NIST SP 800-145,” NIST, Special Publication 500-322, 2018, doi: 10.6028/NIST.SP.500-322.</a:t>
            </a:r>
          </a:p>
          <a:p>
            <a:pPr>
              <a:spcAft>
                <a:spcPts val="400"/>
              </a:spcAft>
              <a:defRPr sz="1250">
                <a:solidFill>
                  <a:srgbClr val="143E78"/>
                </a:solidFill>
                <a:latin typeface="Times New Roman"/>
              </a:defRPr>
            </a:pPr>
            <a:r>
              <a:t>• [4] J. Yang and Z. Chen, “Cloud Computing Research and Security Issues,” in Proc. 2010 Int. Conf. Computational Intelligence and Software Engineering (CiSE), Wuhan, China, 2010, pp. 1–3, doi: 10.1109/CISE.2010.5677076.</a:t>
            </a:r>
          </a:p>
          <a:p>
            <a:pPr>
              <a:spcAft>
                <a:spcPts val="400"/>
              </a:spcAft>
              <a:defRPr sz="1250">
                <a:solidFill>
                  <a:srgbClr val="143E78"/>
                </a:solidFill>
                <a:latin typeface="Times New Roman"/>
              </a:defRPr>
            </a:pPr>
            <a:r>
              <a:t>• [5] R. Younis, M. Iqbal, K. Munir, M. A. Javed, M. Haris, and S. Alahmari, “A Comprehensive Analysis of Cloud Service Models: IaaS, PaaS, and SaaS in the Context of Emerging Technologies and Trend,” in Proc. 2024 Int. Conf. Electrical, Communication and Computer Engineering (ICECCE), Kuala Lumpur, Malaysia, 2024, pp. 1–6, doi: 10.1109/ICECCE63537.2024.10823401.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80760"/>
            <a:ext cx="7863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5A5A5A"/>
                </a:solidFill>
                <a:latin typeface="Times New Roman"/>
              </a:rPr>
              <a:t>IEEE reference style • Sources accessed for presentation preparation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236208"/>
            <a:ext cx="32004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Times New Roman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26799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5869</TotalTime>
  <Words>339</Words>
  <Application>Microsoft Office PowerPoint</Application>
  <PresentationFormat>On-screen Show (4:3)</PresentationFormat>
  <Paragraphs>76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宋体</vt:lpstr>
      <vt:lpstr>Arial</vt:lpstr>
      <vt:lpstr>AvantGarde</vt:lpstr>
      <vt:lpstr>Calibri</vt:lpstr>
      <vt:lpstr>Calibri Light</vt:lpstr>
      <vt:lpstr>Times New Roman</vt:lpstr>
      <vt:lpstr>Wingdings 2</vt:lpstr>
      <vt:lpstr>Office Theme</vt:lpstr>
      <vt:lpstr>PowerPoint Presentation</vt:lpstr>
      <vt:lpstr>Abstract </vt:lpstr>
      <vt:lpstr>Aim and Objective </vt:lpstr>
      <vt:lpstr>Introduction</vt:lpstr>
      <vt:lpstr>Core Technical Explanation</vt:lpstr>
      <vt:lpstr>Existing System </vt:lpstr>
      <vt:lpstr>Proposed  System </vt:lpstr>
      <vt:lpstr>Overall System Architecturel Design </vt:lpstr>
      <vt:lpstr>Proposed Methodology and Algorithm  </vt:lpstr>
      <vt:lpstr>Real-world use case in cloud computing.</vt:lpstr>
      <vt:lpstr>Conclusion</vt:lpstr>
      <vt:lpstr>References</vt:lpstr>
    </vt:vector>
  </TitlesOfParts>
  <Company>Deitel &amp; Associates,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kalid</dc:creator>
  <cp:lastModifiedBy>Arul Raj</cp:lastModifiedBy>
  <cp:revision>426</cp:revision>
  <dcterms:created xsi:type="dcterms:W3CDTF">2000-07-06T15:05:59Z</dcterms:created>
  <dcterms:modified xsi:type="dcterms:W3CDTF">2026-10-02T14:08:01Z</dcterms:modified>
</cp:coreProperties>
</file>